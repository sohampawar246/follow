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A2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8000" y="-28000"/>
            <a:ext cx="12247695" cy="6913828"/>
          </a:xfrm>
          <a:prstGeom prst="roundRect">
            <a:avLst/>
          </a:prstGeom>
          <a:no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eck_menu.png"/>
          <p:cNvPicPr>
            <a:picLocks noChangeAspect="1"/>
          </p:cNvPicPr>
          <p:nvPr/>
        </p:nvPicPr>
        <p:blipFill>
          <a:blip r:embed="rId2"/>
          <a:stretch>
            <a:fillRect/>
          </a:stretch>
        </p:blipFill>
        <p:spPr>
          <a:xfrm>
            <a:off x="0" y="0"/>
            <a:ext cx="12191695" cy="6857828"/>
          </a:xfrm>
          <a:prstGeom prst="rect">
            <a:avLst/>
          </a:prstGeom>
        </p:spPr>
      </p:pic>
      <p:sp>
        <p:nvSpPr>
          <p:cNvPr id="5" name="Rectangle 4"/>
          <p:cNvSpPr/>
          <p:nvPr/>
        </p:nvSpPr>
        <p:spPr>
          <a:xfrm>
            <a:off x="0" y="0"/>
            <a:ext cx="12191695" cy="6858000"/>
          </a:xfrm>
          <a:prstGeom prst="rect">
            <a:avLst/>
          </a:prstGeom>
          <a:solidFill>
            <a:srgbClr val="3A2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1920240"/>
            <a:ext cx="4754880" cy="1371600"/>
          </a:xfrm>
          <a:prstGeom prst="roundRect">
            <a:avLst/>
          </a:prstGeom>
          <a:solidFill>
            <a:srgbClr val="E0603C"/>
          </a:solid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FF6E0"/>
                </a:solidFill>
                <a:latin typeface="Verdana"/>
              </a:rPr>
              <a:t>Follow</a:t>
            </a:r>
          </a:p>
        </p:txBody>
      </p:sp>
      <p:sp>
        <p:nvSpPr>
          <p:cNvPr id="7" name="TextBox 6"/>
          <p:cNvSpPr txBox="1"/>
          <p:nvPr/>
        </p:nvSpPr>
        <p:spPr>
          <a:xfrm>
            <a:off x="1005840" y="3520440"/>
            <a:ext cx="7315200" cy="1828800"/>
          </a:xfrm>
          <a:prstGeom prst="rect">
            <a:avLst/>
          </a:prstGeom>
          <a:noFill/>
        </p:spPr>
        <p:txBody>
          <a:bodyPr wrap="square" lIns="0" rIns="0" tIns="0" bIns="0">
            <a:spAutoFit/>
          </a:bodyPr>
          <a:lstStyle/>
          <a:p>
            <a:pPr algn="l">
              <a:lnSpc>
                <a:spcPct val="115000"/>
              </a:lnSpc>
              <a:spcAft>
                <a:spcPts val="600"/>
              </a:spcAft>
            </a:pPr>
            <a:r>
              <a:rPr sz="2000" b="0">
                <a:solidFill>
                  <a:srgbClr val="FFF6E0"/>
                </a:solidFill>
                <a:latin typeface="Verdana"/>
              </a:rPr>
              <a:t>A survey of the forest, and the dog who makes it possible.</a:t>
            </a:r>
          </a:p>
          <a:p>
            <a:pPr algn="l">
              <a:lnSpc>
                <a:spcPct val="115000"/>
              </a:lnSpc>
              <a:spcAft>
                <a:spcPts val="600"/>
              </a:spcAft>
            </a:pPr>
            <a:r>
              <a:rPr sz="2000" b="0">
                <a:solidFill>
                  <a:srgbClr val="FFF6E0"/>
                </a:solidFill>
                <a:latin typeface="Verdana"/>
              </a:rPr>
              <a:t/>
            </a:r>
          </a:p>
          <a:p>
            <a:pPr algn="l">
              <a:lnSpc>
                <a:spcPct val="115000"/>
              </a:lnSpc>
              <a:spcAft>
                <a:spcPts val="600"/>
              </a:spcAft>
            </a:pPr>
            <a:r>
              <a:rPr sz="2000" b="0">
                <a:solidFill>
                  <a:srgbClr val="FFF6E0"/>
                </a:solidFill>
                <a:latin typeface="Verdana"/>
              </a:rPr>
              <a:t>TXG Nagaland Game Jam 2026  ·  Where Nature Leads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6583680" cy="868680"/>
          </a:xfrm>
          <a:prstGeom prst="roundRect">
            <a:avLst/>
          </a:prstGeom>
          <a:solidFill>
            <a:srgbClr val="E0603C"/>
          </a:solid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FF6E0"/>
                </a:solidFill>
                <a:latin typeface="Verdana"/>
              </a:rPr>
              <a:t>Where Nature Leads</a:t>
            </a:r>
          </a:p>
        </p:txBody>
      </p:sp>
      <p:sp>
        <p:nvSpPr>
          <p:cNvPr id="4" name="TextBox 3"/>
          <p:cNvSpPr txBox="1"/>
          <p:nvPr/>
        </p:nvSpPr>
        <p:spPr>
          <a:xfrm>
            <a:off x="731520" y="1737360"/>
            <a:ext cx="5669280" cy="4206240"/>
          </a:xfrm>
          <a:prstGeom prst="rect">
            <a:avLst/>
          </a:prstGeom>
          <a:noFill/>
        </p:spPr>
        <p:txBody>
          <a:bodyPr wrap="square" lIns="0" rIns="0" tIns="0" bIns="0">
            <a:spAutoFit/>
          </a:bodyPr>
          <a:lstStyle/>
          <a:p>
            <a:pPr algn="l">
              <a:lnSpc>
                <a:spcPct val="115000"/>
              </a:lnSpc>
              <a:spcAft>
                <a:spcPts val="600"/>
              </a:spcAft>
            </a:pPr>
            <a:r>
              <a:rPr sz="1700" b="0">
                <a:solidFill>
                  <a:srgbClr val="4A3524"/>
                </a:solidFill>
                <a:latin typeface="Verdana"/>
              </a:rPr>
              <a:t>We took the theme literally.</a:t>
            </a:r>
          </a:p>
          <a:p>
            <a:pPr algn="l">
              <a:lnSpc>
                <a:spcPct val="115000"/>
              </a:lnSpc>
              <a:spcAft>
                <a:spcPts val="600"/>
              </a:spcAft>
            </a:pPr>
            <a:r>
              <a:rPr sz="1700" b="0">
                <a:solidFill>
                  <a:srgbClr val="4A3524"/>
                </a:solidFill>
                <a:latin typeface="Verdana"/>
              </a:rPr>
              <a:t/>
            </a:r>
          </a:p>
          <a:p>
            <a:pPr algn="l">
              <a:lnSpc>
                <a:spcPct val="115000"/>
              </a:lnSpc>
              <a:spcAft>
                <a:spcPts val="600"/>
              </a:spcAft>
            </a:pPr>
            <a:r>
              <a:rPr sz="1700" b="0">
                <a:solidFill>
                  <a:srgbClr val="4A3524"/>
                </a:solidFill>
                <a:latin typeface="Verdana"/>
              </a:rPr>
              <a:t>You cannot find most of this forest on your own. The animals are behind thickets, or they heard you coming. What you have is a young Shiba Inu who works ahead of you, picks up a scent, stops over it and barks until you arrive.</a:t>
            </a:r>
          </a:p>
          <a:p>
            <a:pPr algn="l">
              <a:lnSpc>
                <a:spcPct val="115000"/>
              </a:lnSpc>
              <a:spcAft>
                <a:spcPts val="600"/>
              </a:spcAft>
            </a:pPr>
            <a:r>
              <a:rPr sz="1700" b="0">
                <a:solidFill>
                  <a:srgbClr val="4A3524"/>
                </a:solidFill>
                <a:latin typeface="Verdana"/>
              </a:rPr>
              <a:t/>
            </a:r>
          </a:p>
          <a:p>
            <a:pPr algn="l">
              <a:lnSpc>
                <a:spcPct val="115000"/>
              </a:lnSpc>
              <a:spcAft>
                <a:spcPts val="600"/>
              </a:spcAft>
            </a:pPr>
            <a:r>
              <a:rPr sz="1700" b="0">
                <a:solidFill>
                  <a:srgbClr val="4A3524"/>
                </a:solidFill>
                <a:latin typeface="Verdana"/>
              </a:rPr>
              <a:t>She is not a tool and she is not commanded. Every behaviour she has is chosen by her, weighted by how much she currently trusts you. Nature leads; you follow, with a camera.</a:t>
            </a:r>
          </a:p>
        </p:txBody>
      </p:sp>
      <p:sp>
        <p:nvSpPr>
          <p:cNvPr id="5" name="Rounded Rectangle 4"/>
          <p:cNvSpPr/>
          <p:nvPr/>
        </p:nvSpPr>
        <p:spPr>
          <a:xfrm>
            <a:off x="731520" y="5623560"/>
            <a:ext cx="5669280" cy="566928"/>
          </a:xfrm>
          <a:prstGeom prst="roundRect">
            <a:avLst/>
          </a:prstGeom>
          <a:solidFill>
            <a:srgbClr val="6FB255"/>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4A3524"/>
                </a:solidFill>
                <a:latin typeface="Verdana"/>
              </a:rPr>
              <a:t>The dog decides. You keep up.</a:t>
            </a:r>
          </a:p>
        </p:txBody>
      </p:sp>
      <p:sp>
        <p:nvSpPr>
          <p:cNvPr id="7" name="Rounded Rectangle 6"/>
          <p:cNvSpPr/>
          <p:nvPr/>
        </p:nvSpPr>
        <p:spPr>
          <a:xfrm>
            <a:off x="6647120" y="1709360"/>
            <a:ext cx="4902320" cy="2782055"/>
          </a:xfrm>
          <a:prstGeom prst="roundRect">
            <a:avLst/>
          </a:prstGeom>
          <a:no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lora_row.png"/>
          <p:cNvPicPr>
            <a:picLocks noChangeAspect="1"/>
          </p:cNvPicPr>
          <p:nvPr/>
        </p:nvPicPr>
        <p:blipFill>
          <a:blip r:embed="rId2"/>
          <a:stretch>
            <a:fillRect/>
          </a:stretch>
        </p:blipFill>
        <p:spPr>
          <a:xfrm>
            <a:off x="6675120" y="1737360"/>
            <a:ext cx="4846320" cy="2726055"/>
          </a:xfrm>
          <a:prstGeom prst="rect">
            <a:avLst/>
          </a:prstGeom>
        </p:spPr>
      </p:pic>
      <p:sp>
        <p:nvSpPr>
          <p:cNvPr id="8" name="TextBox 7"/>
          <p:cNvSpPr txBox="1"/>
          <p:nvPr/>
        </p:nvSpPr>
        <p:spPr>
          <a:xfrm>
            <a:off x="10424160" y="6355080"/>
            <a:ext cx="1280160" cy="365760"/>
          </a:xfrm>
          <a:prstGeom prst="rect">
            <a:avLst/>
          </a:prstGeom>
          <a:noFill/>
        </p:spPr>
        <p:txBody>
          <a:bodyPr wrap="square" lIns="0" rIns="0" tIns="0" bIns="0">
            <a:spAutoFit/>
          </a:bodyPr>
          <a:lstStyle/>
          <a:p>
            <a:pPr algn="r">
              <a:lnSpc>
                <a:spcPct val="115000"/>
              </a:lnSpc>
              <a:spcAft>
                <a:spcPts val="600"/>
              </a:spcAft>
            </a:pPr>
            <a:r>
              <a:rPr sz="1100" b="0">
                <a:solidFill>
                  <a:srgbClr val="8A6F52"/>
                </a:solidFill>
                <a:latin typeface="Verdana"/>
              </a:rPr>
              <a:t>Follow  ·  2/10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4023360" cy="868680"/>
          </a:xfrm>
          <a:prstGeom prst="roundRect">
            <a:avLst/>
          </a:prstGeom>
          <a:solidFill>
            <a:srgbClr val="E0603C"/>
          </a:solid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FF6E0"/>
                </a:solidFill>
                <a:latin typeface="Verdana"/>
              </a:rPr>
              <a:t>The loop</a:t>
            </a:r>
          </a:p>
        </p:txBody>
      </p:sp>
      <p:sp>
        <p:nvSpPr>
          <p:cNvPr id="4" name="Rounded Rectangle 3"/>
          <p:cNvSpPr/>
          <p:nvPr/>
        </p:nvSpPr>
        <p:spPr>
          <a:xfrm>
            <a:off x="731520" y="1691640"/>
            <a:ext cx="3200400" cy="548640"/>
          </a:xfrm>
          <a:prstGeom prst="roundRect">
            <a:avLst/>
          </a:prstGeom>
          <a:solidFill>
            <a:srgbClr val="FFBB3D"/>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4A3524"/>
                </a:solidFill>
                <a:latin typeface="Verdana"/>
              </a:rPr>
              <a:t>1  She finds</a:t>
            </a:r>
          </a:p>
        </p:txBody>
      </p:sp>
      <p:sp>
        <p:nvSpPr>
          <p:cNvPr id="5" name="TextBox 4"/>
          <p:cNvSpPr txBox="1"/>
          <p:nvPr/>
        </p:nvSpPr>
        <p:spPr>
          <a:xfrm>
            <a:off x="4114800" y="1737360"/>
            <a:ext cx="7315200" cy="822960"/>
          </a:xfrm>
          <a:prstGeom prst="rect">
            <a:avLst/>
          </a:prstGeom>
          <a:noFill/>
        </p:spPr>
        <p:txBody>
          <a:bodyPr wrap="square" lIns="0" rIns="0" tIns="0" bIns="0">
            <a:spAutoFit/>
          </a:bodyPr>
          <a:lstStyle/>
          <a:p>
            <a:pPr algn="l">
              <a:lnSpc>
                <a:spcPct val="115000"/>
              </a:lnSpc>
              <a:spcAft>
                <a:spcPts val="600"/>
              </a:spcAft>
            </a:pPr>
            <a:r>
              <a:rPr sz="1500" b="0">
                <a:solidFill>
                  <a:srgbClr val="4A3524"/>
                </a:solidFill>
                <a:latin typeface="Verdana"/>
              </a:rPr>
              <a:t>The dog ranges out to 58 m, catches a scent and points. The bark is the only thing telling you where to look.</a:t>
            </a:r>
          </a:p>
        </p:txBody>
      </p:sp>
      <p:sp>
        <p:nvSpPr>
          <p:cNvPr id="6" name="Rounded Rectangle 5"/>
          <p:cNvSpPr/>
          <p:nvPr/>
        </p:nvSpPr>
        <p:spPr>
          <a:xfrm>
            <a:off x="731520" y="2834640"/>
            <a:ext cx="3200400" cy="548640"/>
          </a:xfrm>
          <a:prstGeom prst="roundRect">
            <a:avLst/>
          </a:prstGeom>
          <a:solidFill>
            <a:srgbClr val="FFBB3D"/>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4A3524"/>
                </a:solidFill>
                <a:latin typeface="Verdana"/>
              </a:rPr>
              <a:t>2  You photograph</a:t>
            </a:r>
          </a:p>
        </p:txBody>
      </p:sp>
      <p:sp>
        <p:nvSpPr>
          <p:cNvPr id="7" name="TextBox 6"/>
          <p:cNvSpPr txBox="1"/>
          <p:nvPr/>
        </p:nvSpPr>
        <p:spPr>
          <a:xfrm>
            <a:off x="4114800" y="2880360"/>
            <a:ext cx="7315200" cy="822960"/>
          </a:xfrm>
          <a:prstGeom prst="rect">
            <a:avLst/>
          </a:prstGeom>
          <a:noFill/>
        </p:spPr>
        <p:txBody>
          <a:bodyPr wrap="square" lIns="0" rIns="0" tIns="0" bIns="0">
            <a:spAutoFit/>
          </a:bodyPr>
          <a:lstStyle/>
          <a:p>
            <a:pPr algn="l">
              <a:lnSpc>
                <a:spcPct val="115000"/>
              </a:lnSpc>
              <a:spcAft>
                <a:spcPts val="600"/>
              </a:spcAft>
            </a:pPr>
            <a:r>
              <a:rPr sz="1500" b="0">
                <a:solidFill>
                  <a:srgbClr val="4A3524"/>
                </a:solidFill>
                <a:latin typeface="Verdana"/>
              </a:rPr>
              <a:t>Press F, then answer a row of arrows before the bar runs out. Clean run, clean plate.</a:t>
            </a:r>
          </a:p>
        </p:txBody>
      </p:sp>
      <p:sp>
        <p:nvSpPr>
          <p:cNvPr id="8" name="Rounded Rectangle 7"/>
          <p:cNvSpPr/>
          <p:nvPr/>
        </p:nvSpPr>
        <p:spPr>
          <a:xfrm>
            <a:off x="731520" y="3977640"/>
            <a:ext cx="3200400" cy="548640"/>
          </a:xfrm>
          <a:prstGeom prst="roundRect">
            <a:avLst/>
          </a:prstGeom>
          <a:solidFill>
            <a:srgbClr val="FFBB3D"/>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4A3524"/>
                </a:solidFill>
                <a:latin typeface="Verdana"/>
              </a:rPr>
              <a:t>3  It goes in the book</a:t>
            </a:r>
          </a:p>
        </p:txBody>
      </p:sp>
      <p:sp>
        <p:nvSpPr>
          <p:cNvPr id="9" name="TextBox 8"/>
          <p:cNvSpPr txBox="1"/>
          <p:nvPr/>
        </p:nvSpPr>
        <p:spPr>
          <a:xfrm>
            <a:off x="4114800" y="4023360"/>
            <a:ext cx="7315200" cy="822960"/>
          </a:xfrm>
          <a:prstGeom prst="rect">
            <a:avLst/>
          </a:prstGeom>
          <a:noFill/>
        </p:spPr>
        <p:txBody>
          <a:bodyPr wrap="square" lIns="0" rIns="0" tIns="0" bIns="0">
            <a:spAutoFit/>
          </a:bodyPr>
          <a:lstStyle/>
          <a:p>
            <a:pPr algn="l">
              <a:lnSpc>
                <a:spcPct val="115000"/>
              </a:lnSpc>
              <a:spcAft>
                <a:spcPts val="600"/>
              </a:spcAft>
            </a:pPr>
            <a:r>
              <a:rPr sz="1500" b="0">
                <a:solidFill>
                  <a:srgbClr val="4A3524"/>
                </a:solidFill>
                <a:latin typeface="Verdana"/>
              </a:rPr>
              <a:t>Graded and filed. Only your best shot per species is kept, so re-photographing is always worth doing.</a:t>
            </a:r>
          </a:p>
        </p:txBody>
      </p:sp>
      <p:sp>
        <p:nvSpPr>
          <p:cNvPr id="10" name="Rounded Rectangle 9"/>
          <p:cNvSpPr/>
          <p:nvPr/>
        </p:nvSpPr>
        <p:spPr>
          <a:xfrm>
            <a:off x="731520" y="5120640"/>
            <a:ext cx="3200400" cy="548640"/>
          </a:xfrm>
          <a:prstGeom prst="roundRect">
            <a:avLst/>
          </a:prstGeom>
          <a:solidFill>
            <a:srgbClr val="FFBB3D"/>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4A3524"/>
                </a:solidFill>
                <a:latin typeface="Verdana"/>
              </a:rPr>
              <a:t>4  The day runs out</a:t>
            </a:r>
          </a:p>
        </p:txBody>
      </p:sp>
      <p:sp>
        <p:nvSpPr>
          <p:cNvPr id="11" name="TextBox 10"/>
          <p:cNvSpPr txBox="1"/>
          <p:nvPr/>
        </p:nvSpPr>
        <p:spPr>
          <a:xfrm>
            <a:off x="4114800" y="5166360"/>
            <a:ext cx="7315200" cy="822960"/>
          </a:xfrm>
          <a:prstGeom prst="rect">
            <a:avLst/>
          </a:prstGeom>
          <a:noFill/>
        </p:spPr>
        <p:txBody>
          <a:bodyPr wrap="square" lIns="0" rIns="0" tIns="0" bIns="0">
            <a:spAutoFit/>
          </a:bodyPr>
          <a:lstStyle/>
          <a:p>
            <a:pPr algn="l">
              <a:lnSpc>
                <a:spcPct val="115000"/>
              </a:lnSpc>
              <a:spcAft>
                <a:spcPts val="600"/>
              </a:spcAft>
            </a:pPr>
            <a:r>
              <a:rPr sz="1500" b="0">
                <a:solidFill>
                  <a:srgbClr val="4A3524"/>
                </a:solidFill>
                <a:latin typeface="Verdana"/>
              </a:rPr>
              <a:t>Firewood, water, food. When the light goes the survey stops and you head for the fire.</a:t>
            </a:r>
          </a:p>
        </p:txBody>
      </p:sp>
      <p:sp>
        <p:nvSpPr>
          <p:cNvPr id="12" name="TextBox 11"/>
          <p:cNvSpPr txBox="1"/>
          <p:nvPr/>
        </p:nvSpPr>
        <p:spPr>
          <a:xfrm>
            <a:off x="731520" y="6263640"/>
            <a:ext cx="10515600" cy="457200"/>
          </a:xfrm>
          <a:prstGeom prst="rect">
            <a:avLst/>
          </a:prstGeom>
          <a:noFill/>
        </p:spPr>
        <p:txBody>
          <a:bodyPr wrap="square" lIns="0" rIns="0" tIns="0" bIns="0">
            <a:spAutoFit/>
          </a:bodyPr>
          <a:lstStyle/>
          <a:p>
            <a:pPr algn="l">
              <a:lnSpc>
                <a:spcPct val="115000"/>
              </a:lnSpc>
              <a:spcAft>
                <a:spcPts val="600"/>
              </a:spcAft>
            </a:pPr>
            <a:r>
              <a:rPr sz="1600" b="0">
                <a:solidFill>
                  <a:srgbClr val="8A6F52"/>
                </a:solidFill>
                <a:latin typeface="Verdana"/>
              </a:rPr>
              <a:t>There is no ending. There is a journal that fills up.</a:t>
            </a:r>
          </a:p>
        </p:txBody>
      </p:sp>
      <p:sp>
        <p:nvSpPr>
          <p:cNvPr id="13" name="TextBox 12"/>
          <p:cNvSpPr txBox="1"/>
          <p:nvPr/>
        </p:nvSpPr>
        <p:spPr>
          <a:xfrm>
            <a:off x="10424160" y="6355080"/>
            <a:ext cx="1280160" cy="365760"/>
          </a:xfrm>
          <a:prstGeom prst="rect">
            <a:avLst/>
          </a:prstGeom>
          <a:noFill/>
        </p:spPr>
        <p:txBody>
          <a:bodyPr wrap="square" lIns="0" rIns="0" tIns="0" bIns="0">
            <a:spAutoFit/>
          </a:bodyPr>
          <a:lstStyle/>
          <a:p>
            <a:pPr algn="r">
              <a:lnSpc>
                <a:spcPct val="115000"/>
              </a:lnSpc>
              <a:spcAft>
                <a:spcPts val="600"/>
              </a:spcAft>
            </a:pPr>
            <a:r>
              <a:rPr sz="1100" b="0">
                <a:solidFill>
                  <a:srgbClr val="8A6F52"/>
                </a:solidFill>
                <a:latin typeface="Verdana"/>
              </a:rPr>
              <a:t>Follow  ·  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3840480" cy="868680"/>
          </a:xfrm>
          <a:prstGeom prst="roundRect">
            <a:avLst/>
          </a:prstGeom>
          <a:solidFill>
            <a:srgbClr val="E0603C"/>
          </a:solid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FF6E0"/>
                </a:solidFill>
                <a:latin typeface="Verdana"/>
              </a:rPr>
              <a:t>The dog</a:t>
            </a:r>
          </a:p>
        </p:txBody>
      </p:sp>
      <p:sp>
        <p:nvSpPr>
          <p:cNvPr id="4" name="TextBox 3"/>
          <p:cNvSpPr txBox="1"/>
          <p:nvPr/>
        </p:nvSpPr>
        <p:spPr>
          <a:xfrm>
            <a:off x="731520" y="1691640"/>
            <a:ext cx="6766560" cy="4023360"/>
          </a:xfrm>
          <a:prstGeom prst="rect">
            <a:avLst/>
          </a:prstGeom>
          <a:noFill/>
        </p:spPr>
        <p:txBody>
          <a:bodyPr wrap="square" lIns="0" rIns="0" tIns="0" bIns="0">
            <a:spAutoFit/>
          </a:bodyPr>
          <a:lstStyle/>
          <a:p>
            <a:pPr algn="l">
              <a:lnSpc>
                <a:spcPct val="115000"/>
              </a:lnSpc>
              <a:spcAft>
                <a:spcPts val="600"/>
              </a:spcAft>
            </a:pPr>
            <a:r>
              <a:rPr sz="1700" b="0">
                <a:solidFill>
                  <a:srgbClr val="4A3524"/>
                </a:solidFill>
                <a:latin typeface="Verdana"/>
              </a:rPr>
              <a:t>A state machine of nine behaviours - range, scent, point, fetch, deliver, lead, rest - with every transition weighted by bond.</a:t>
            </a:r>
          </a:p>
          <a:p>
            <a:pPr algn="l">
              <a:lnSpc>
                <a:spcPct val="115000"/>
              </a:lnSpc>
              <a:spcAft>
                <a:spcPts val="600"/>
              </a:spcAft>
            </a:pPr>
            <a:r>
              <a:rPr sz="1700" b="0">
                <a:solidFill>
                  <a:srgbClr val="4A3524"/>
                </a:solidFill>
                <a:latin typeface="Verdana"/>
              </a:rPr>
              <a:t/>
            </a:r>
          </a:p>
          <a:p>
            <a:pPr algn="l">
              <a:lnSpc>
                <a:spcPct val="115000"/>
              </a:lnSpc>
              <a:spcAft>
                <a:spcPts val="600"/>
              </a:spcAft>
            </a:pPr>
            <a:r>
              <a:rPr sz="1700" b="0">
                <a:solidFill>
                  <a:srgbClr val="4A3524"/>
                </a:solidFill>
                <a:latin typeface="Verdana"/>
              </a:rPr>
              <a:t>She works a 58 m radius, gives up on trails she cannot reach, and rests between finds so she is not permanently shouting at you. Whistle with Q and she comes and stays for a window that grows as she trusts you - unless she is stood over something, in which case she holds it and barks back.</a:t>
            </a:r>
          </a:p>
          <a:p>
            <a:pPr algn="l">
              <a:lnSpc>
                <a:spcPct val="115000"/>
              </a:lnSpc>
              <a:spcAft>
                <a:spcPts val="600"/>
              </a:spcAft>
            </a:pPr>
            <a:r>
              <a:rPr sz="1700" b="0">
                <a:solidFill>
                  <a:srgbClr val="4A3524"/>
                </a:solidFill>
                <a:latin typeface="Verdana"/>
              </a:rPr>
              <a:t/>
            </a:r>
          </a:p>
          <a:p>
            <a:pPr algn="l">
              <a:lnSpc>
                <a:spcPct val="115000"/>
              </a:lnSpc>
              <a:spcAft>
                <a:spcPts val="600"/>
              </a:spcAft>
            </a:pPr>
            <a:r>
              <a:rPr sz="1700" b="0">
                <a:solidFill>
                  <a:srgbClr val="4A3524"/>
                </a:solidFill>
                <a:latin typeface="Verdana"/>
              </a:rPr>
              <a:t>Bond is never a number on screen. You read it off where she chooses to lie down when you sleep.</a:t>
            </a:r>
          </a:p>
        </p:txBody>
      </p:sp>
      <p:sp>
        <p:nvSpPr>
          <p:cNvPr id="5" name="Rounded Rectangle 4"/>
          <p:cNvSpPr/>
          <p:nvPr/>
        </p:nvSpPr>
        <p:spPr>
          <a:xfrm>
            <a:off x="731520" y="5760720"/>
            <a:ext cx="2377440" cy="566928"/>
          </a:xfrm>
          <a:prstGeom prst="roundRect">
            <a:avLst/>
          </a:prstGeom>
          <a:solidFill>
            <a:srgbClr val="6FB255"/>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4A3524"/>
                </a:solidFill>
                <a:latin typeface="Verdana"/>
              </a:rPr>
              <a:t>Q  whistle</a:t>
            </a:r>
          </a:p>
        </p:txBody>
      </p:sp>
      <p:sp>
        <p:nvSpPr>
          <p:cNvPr id="6" name="Rounded Rectangle 5"/>
          <p:cNvSpPr/>
          <p:nvPr/>
        </p:nvSpPr>
        <p:spPr>
          <a:xfrm>
            <a:off x="3291840" y="5760720"/>
            <a:ext cx="2651760" cy="566928"/>
          </a:xfrm>
          <a:prstGeom prst="roundRect">
            <a:avLst/>
          </a:prstGeom>
          <a:solidFill>
            <a:srgbClr val="6FB255"/>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4A3524"/>
                </a:solidFill>
                <a:latin typeface="Verdana"/>
              </a:rPr>
              <a:t>G  share food</a:t>
            </a:r>
          </a:p>
        </p:txBody>
      </p:sp>
      <p:sp>
        <p:nvSpPr>
          <p:cNvPr id="7" name="Rounded Rectangle 6"/>
          <p:cNvSpPr/>
          <p:nvPr/>
        </p:nvSpPr>
        <p:spPr>
          <a:xfrm>
            <a:off x="6126480" y="5760720"/>
            <a:ext cx="3291840" cy="566928"/>
          </a:xfrm>
          <a:prstGeom prst="roundRect">
            <a:avLst/>
          </a:prstGeom>
          <a:solidFill>
            <a:srgbClr val="6FB255"/>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4A3524"/>
                </a:solidFill>
                <a:latin typeface="Verdana"/>
              </a:rPr>
              <a:t>she leads you home</a:t>
            </a:r>
          </a:p>
        </p:txBody>
      </p:sp>
      <p:sp>
        <p:nvSpPr>
          <p:cNvPr id="9" name="Rounded Rectangle 8"/>
          <p:cNvSpPr/>
          <p:nvPr/>
        </p:nvSpPr>
        <p:spPr>
          <a:xfrm>
            <a:off x="7744400" y="1663640"/>
            <a:ext cx="3805039" cy="2164834"/>
          </a:xfrm>
          <a:prstGeom prst="roundRect">
            <a:avLst/>
          </a:prstGeom>
          <a:no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eck_woods.png"/>
          <p:cNvPicPr>
            <a:picLocks noChangeAspect="1"/>
          </p:cNvPicPr>
          <p:nvPr/>
        </p:nvPicPr>
        <p:blipFill>
          <a:blip r:embed="rId2"/>
          <a:stretch>
            <a:fillRect/>
          </a:stretch>
        </p:blipFill>
        <p:spPr>
          <a:xfrm>
            <a:off x="7772400" y="1691640"/>
            <a:ext cx="3749039" cy="2108834"/>
          </a:xfrm>
          <a:prstGeom prst="rect">
            <a:avLst/>
          </a:prstGeom>
        </p:spPr>
      </p:pic>
      <p:sp>
        <p:nvSpPr>
          <p:cNvPr id="10" name="TextBox 9"/>
          <p:cNvSpPr txBox="1"/>
          <p:nvPr/>
        </p:nvSpPr>
        <p:spPr>
          <a:xfrm>
            <a:off x="10424160" y="6355080"/>
            <a:ext cx="1280160" cy="365760"/>
          </a:xfrm>
          <a:prstGeom prst="rect">
            <a:avLst/>
          </a:prstGeom>
          <a:noFill/>
        </p:spPr>
        <p:txBody>
          <a:bodyPr wrap="square" lIns="0" rIns="0" tIns="0" bIns="0">
            <a:spAutoFit/>
          </a:bodyPr>
          <a:lstStyle/>
          <a:p>
            <a:pPr algn="r">
              <a:lnSpc>
                <a:spcPct val="115000"/>
              </a:lnSpc>
              <a:spcAft>
                <a:spcPts val="600"/>
              </a:spcAft>
            </a:pPr>
            <a:r>
              <a:rPr sz="1100" b="0">
                <a:solidFill>
                  <a:srgbClr val="8A6F52"/>
                </a:solidFill>
                <a:latin typeface="Verdana"/>
              </a:rPr>
              <a:t>Follow  ·  4/10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5120640" cy="868680"/>
          </a:xfrm>
          <a:prstGeom prst="roundRect">
            <a:avLst/>
          </a:prstGeom>
          <a:solidFill>
            <a:srgbClr val="E0603C"/>
          </a:solid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FF6E0"/>
                </a:solidFill>
                <a:latin typeface="Verdana"/>
              </a:rPr>
              <a:t>The photograph</a:t>
            </a:r>
          </a:p>
        </p:txBody>
      </p:sp>
      <p:sp>
        <p:nvSpPr>
          <p:cNvPr id="5" name="Rounded Rectangle 4"/>
          <p:cNvSpPr/>
          <p:nvPr/>
        </p:nvSpPr>
        <p:spPr>
          <a:xfrm>
            <a:off x="703520" y="1663640"/>
            <a:ext cx="6731120" cy="3810755"/>
          </a:xfrm>
          <a:prstGeom prst="roundRect">
            <a:avLst/>
          </a:prstGeom>
          <a:no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row_feedback.png"/>
          <p:cNvPicPr>
            <a:picLocks noChangeAspect="1"/>
          </p:cNvPicPr>
          <p:nvPr/>
        </p:nvPicPr>
        <p:blipFill>
          <a:blip r:embed="rId2"/>
          <a:stretch>
            <a:fillRect/>
          </a:stretch>
        </p:blipFill>
        <p:spPr>
          <a:xfrm>
            <a:off x="731520" y="1691640"/>
            <a:ext cx="6675120" cy="3754755"/>
          </a:xfrm>
          <a:prstGeom prst="rect">
            <a:avLst/>
          </a:prstGeom>
        </p:spPr>
      </p:pic>
      <p:sp>
        <p:nvSpPr>
          <p:cNvPr id="6" name="TextBox 5"/>
          <p:cNvSpPr txBox="1"/>
          <p:nvPr/>
        </p:nvSpPr>
        <p:spPr>
          <a:xfrm>
            <a:off x="7680960" y="1691640"/>
            <a:ext cx="3840480" cy="4206240"/>
          </a:xfrm>
          <a:prstGeom prst="rect">
            <a:avLst/>
          </a:prstGeom>
          <a:noFill/>
        </p:spPr>
        <p:txBody>
          <a:bodyPr wrap="square" lIns="0" rIns="0" tIns="0" bIns="0">
            <a:spAutoFit/>
          </a:bodyPr>
          <a:lstStyle/>
          <a:p>
            <a:pPr algn="l">
              <a:lnSpc>
                <a:spcPct val="115000"/>
              </a:lnSpc>
              <a:spcAft>
                <a:spcPts val="600"/>
              </a:spcAft>
            </a:pPr>
            <a:r>
              <a:rPr sz="1600" b="0">
                <a:solidFill>
                  <a:srgbClr val="4A3524"/>
                </a:solidFill>
                <a:latin typeface="Verdana"/>
              </a:rPr>
              <a:t>A row of arrows in the air over the subject, under one shared timer.</a:t>
            </a:r>
          </a:p>
          <a:p>
            <a:pPr algn="l">
              <a:lnSpc>
                <a:spcPct val="115000"/>
              </a:lnSpc>
              <a:spcAft>
                <a:spcPts val="600"/>
              </a:spcAft>
            </a:pPr>
            <a:r>
              <a:rPr sz="1600" b="0">
                <a:solidFill>
                  <a:srgbClr val="4A3524"/>
                </a:solidFill>
                <a:latin typeface="Verdana"/>
              </a:rPr>
              <a:t/>
            </a:r>
          </a:p>
          <a:p>
            <a:pPr algn="l">
              <a:lnSpc>
                <a:spcPct val="115000"/>
              </a:lnSpc>
              <a:spcAft>
                <a:spcPts val="600"/>
              </a:spcAft>
            </a:pPr>
            <a:r>
              <a:rPr sz="1600" b="0">
                <a:solidFill>
                  <a:srgbClr val="4A3524"/>
                </a:solidFill>
                <a:latin typeface="Verdana"/>
              </a:rPr>
              <a:t>Every press answers itself in colour - green border for a hit, red for a miss, thrown off as an expanding halo. A wrong press costs you that arrow, not the rest of the row.</a:t>
            </a:r>
          </a:p>
          <a:p>
            <a:pPr algn="l">
              <a:lnSpc>
                <a:spcPct val="115000"/>
              </a:lnSpc>
              <a:spcAft>
                <a:spcPts val="600"/>
              </a:spcAft>
            </a:pPr>
            <a:r>
              <a:rPr sz="1600" b="0">
                <a:solidFill>
                  <a:srgbClr val="4A3524"/>
                </a:solidFill>
                <a:latin typeface="Verdana"/>
              </a:rPr>
              <a:t/>
            </a:r>
          </a:p>
          <a:p>
            <a:pPr algn="l">
              <a:lnSpc>
                <a:spcPct val="115000"/>
              </a:lnSpc>
              <a:spcAft>
                <a:spcPts val="600"/>
              </a:spcAft>
            </a:pPr>
            <a:r>
              <a:rPr sz="1600" b="0">
                <a:solidFill>
                  <a:srgbClr val="4A3524"/>
                </a:solidFill>
                <a:latin typeface="Verdana"/>
              </a:rPr>
              <a:t>The photograph is a real render of the real scene from a second camera, so a shot at dusk is dark because it was dusk.</a:t>
            </a:r>
          </a:p>
        </p:txBody>
      </p:sp>
      <p:sp>
        <p:nvSpPr>
          <p:cNvPr id="7" name="Rounded Rectangle 6"/>
          <p:cNvSpPr/>
          <p:nvPr/>
        </p:nvSpPr>
        <p:spPr>
          <a:xfrm>
            <a:off x="7680960" y="5760720"/>
            <a:ext cx="3840480" cy="566928"/>
          </a:xfrm>
          <a:prstGeom prst="roundRect">
            <a:avLst/>
          </a:prstGeom>
          <a:solidFill>
            <a:srgbClr val="FFE9BC"/>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4A3524"/>
                </a:solidFill>
                <a:latin typeface="Verdana"/>
              </a:rPr>
              <a:t>arrows or WASD</a:t>
            </a:r>
          </a:p>
        </p:txBody>
      </p:sp>
      <p:sp>
        <p:nvSpPr>
          <p:cNvPr id="8" name="TextBox 7"/>
          <p:cNvSpPr txBox="1"/>
          <p:nvPr/>
        </p:nvSpPr>
        <p:spPr>
          <a:xfrm>
            <a:off x="10424160" y="6355080"/>
            <a:ext cx="1280160" cy="365760"/>
          </a:xfrm>
          <a:prstGeom prst="rect">
            <a:avLst/>
          </a:prstGeom>
          <a:noFill/>
        </p:spPr>
        <p:txBody>
          <a:bodyPr wrap="square" lIns="0" rIns="0" tIns="0" bIns="0">
            <a:spAutoFit/>
          </a:bodyPr>
          <a:lstStyle/>
          <a:p>
            <a:pPr algn="r">
              <a:lnSpc>
                <a:spcPct val="115000"/>
              </a:lnSpc>
              <a:spcAft>
                <a:spcPts val="600"/>
              </a:spcAft>
            </a:pPr>
            <a:r>
              <a:rPr sz="1100" b="0">
                <a:solidFill>
                  <a:srgbClr val="8A6F52"/>
                </a:solidFill>
                <a:latin typeface="Verdana"/>
              </a:rPr>
              <a:t>Follow  ·  5/10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A2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8000" y="-28000"/>
            <a:ext cx="12247695" cy="6913828"/>
          </a:xfrm>
          <a:prstGeom prst="roundRect">
            <a:avLst/>
          </a:prstGeom>
          <a:no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ight_0.62.png"/>
          <p:cNvPicPr>
            <a:picLocks noChangeAspect="1"/>
          </p:cNvPicPr>
          <p:nvPr/>
        </p:nvPicPr>
        <p:blipFill>
          <a:blip r:embed="rId2"/>
          <a:stretch>
            <a:fillRect/>
          </a:stretch>
        </p:blipFill>
        <p:spPr>
          <a:xfrm>
            <a:off x="0" y="0"/>
            <a:ext cx="12191695" cy="6857828"/>
          </a:xfrm>
          <a:prstGeom prst="rect">
            <a:avLst/>
          </a:prstGeom>
        </p:spPr>
      </p:pic>
      <p:sp>
        <p:nvSpPr>
          <p:cNvPr id="5" name="Rectangle 4"/>
          <p:cNvSpPr/>
          <p:nvPr/>
        </p:nvSpPr>
        <p:spPr>
          <a:xfrm>
            <a:off x="0" y="0"/>
            <a:ext cx="5852160" cy="6858000"/>
          </a:xfrm>
          <a:prstGeom prst="rect">
            <a:avLst/>
          </a:prstGeom>
          <a:solidFill>
            <a:srgbClr val="3A2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457200"/>
            <a:ext cx="4937760" cy="868680"/>
          </a:xfrm>
          <a:prstGeom prst="roundRect">
            <a:avLst/>
          </a:prstGeom>
          <a:solidFill>
            <a:srgbClr val="E0603C"/>
          </a:solid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FF6E0"/>
                </a:solidFill>
                <a:latin typeface="Verdana"/>
              </a:rPr>
              <a:t>The day, and the night</a:t>
            </a:r>
          </a:p>
        </p:txBody>
      </p:sp>
      <p:sp>
        <p:nvSpPr>
          <p:cNvPr id="7" name="TextBox 6"/>
          <p:cNvSpPr txBox="1"/>
          <p:nvPr/>
        </p:nvSpPr>
        <p:spPr>
          <a:xfrm>
            <a:off x="548640" y="1691640"/>
            <a:ext cx="4937760" cy="4389120"/>
          </a:xfrm>
          <a:prstGeom prst="rect">
            <a:avLst/>
          </a:prstGeom>
          <a:noFill/>
        </p:spPr>
        <p:txBody>
          <a:bodyPr wrap="square" lIns="0" rIns="0" tIns="0" bIns="0">
            <a:spAutoFit/>
          </a:bodyPr>
          <a:lstStyle/>
          <a:p>
            <a:pPr algn="l">
              <a:lnSpc>
                <a:spcPct val="115000"/>
              </a:lnSpc>
              <a:spcAft>
                <a:spcPts val="600"/>
              </a:spcAft>
            </a:pPr>
            <a:r>
              <a:rPr sz="1600" b="0">
                <a:solidFill>
                  <a:srgbClr val="FFF6E0"/>
                </a:solidFill>
                <a:latin typeface="Verdana"/>
              </a:rPr>
              <a:t>A full twenty-four hours. Dusk takes seventy-five seconds of real time and the blue arrives through a twilight rather than at one.</a:t>
            </a:r>
          </a:p>
          <a:p>
            <a:pPr algn="l">
              <a:lnSpc>
                <a:spcPct val="115000"/>
              </a:lnSpc>
              <a:spcAft>
                <a:spcPts val="600"/>
              </a:spcAft>
            </a:pPr>
            <a:r>
              <a:rPr sz="1600" b="0">
                <a:solidFill>
                  <a:srgbClr val="FFF6E0"/>
                </a:solidFill>
                <a:latin typeface="Verdana"/>
              </a:rPr>
              <a:t/>
            </a:r>
          </a:p>
          <a:p>
            <a:pPr algn="l">
              <a:lnSpc>
                <a:spcPct val="115000"/>
              </a:lnSpc>
              <a:spcAft>
                <a:spcPts val="600"/>
              </a:spcAft>
            </a:pPr>
            <a:r>
              <a:rPr sz="1600" b="0">
                <a:solidFill>
                  <a:srgbClr val="FFF6E0"/>
                </a:solidFill>
                <a:latin typeface="Verdana"/>
              </a:rPr>
              <a:t>When the light goes the survey stops - it is too dark to work, and the lit campfire is the only exception. That is what four sticks buys you.</a:t>
            </a:r>
          </a:p>
          <a:p>
            <a:pPr algn="l">
              <a:lnSpc>
                <a:spcPct val="115000"/>
              </a:lnSpc>
              <a:spcAft>
                <a:spcPts val="600"/>
              </a:spcAft>
            </a:pPr>
            <a:r>
              <a:rPr sz="1600" b="0">
                <a:solidFill>
                  <a:srgbClr val="FFF6E0"/>
                </a:solidFill>
                <a:latin typeface="Verdana"/>
              </a:rPr>
              <a:t/>
            </a:r>
          </a:p>
          <a:p>
            <a:pPr algn="l">
              <a:lnSpc>
                <a:spcPct val="115000"/>
              </a:lnSpc>
              <a:spcAft>
                <a:spcPts val="600"/>
              </a:spcAft>
            </a:pPr>
            <a:r>
              <a:rPr sz="1600" b="0">
                <a:solidFill>
                  <a:srgbClr val="FFF6E0"/>
                </a:solidFill>
                <a:latin typeface="Verdana"/>
              </a:rPr>
              <a:t>Hunger, thirst and cold run underneath. Empty any of them and the screen irises out; you wake at camp a day older with nothing in your pack.</a:t>
            </a:r>
          </a:p>
        </p:txBody>
      </p:sp>
      <p:sp>
        <p:nvSpPr>
          <p:cNvPr id="8" name="TextBox 7"/>
          <p:cNvSpPr txBox="1"/>
          <p:nvPr/>
        </p:nvSpPr>
        <p:spPr>
          <a:xfrm>
            <a:off x="10424160" y="6355080"/>
            <a:ext cx="1280160" cy="365760"/>
          </a:xfrm>
          <a:prstGeom prst="rect">
            <a:avLst/>
          </a:prstGeom>
          <a:noFill/>
        </p:spPr>
        <p:txBody>
          <a:bodyPr wrap="square" lIns="0" rIns="0" tIns="0" bIns="0">
            <a:spAutoFit/>
          </a:bodyPr>
          <a:lstStyle/>
          <a:p>
            <a:pPr algn="r">
              <a:lnSpc>
                <a:spcPct val="115000"/>
              </a:lnSpc>
              <a:spcAft>
                <a:spcPts val="600"/>
              </a:spcAft>
            </a:pPr>
            <a:r>
              <a:rPr sz="1100" b="0">
                <a:solidFill>
                  <a:srgbClr val="8A6F52"/>
                </a:solidFill>
                <a:latin typeface="Verdana"/>
              </a:rPr>
              <a:t>Follow  ·  6/10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6035040" cy="868680"/>
          </a:xfrm>
          <a:prstGeom prst="roundRect">
            <a:avLst/>
          </a:prstGeom>
          <a:solidFill>
            <a:srgbClr val="E0603C"/>
          </a:solid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FF6E0"/>
                </a:solidFill>
                <a:latin typeface="Verdana"/>
              </a:rPr>
              <a:t>A forest with no edge</a:t>
            </a:r>
          </a:p>
        </p:txBody>
      </p:sp>
      <p:sp>
        <p:nvSpPr>
          <p:cNvPr id="4" name="TextBox 3"/>
          <p:cNvSpPr txBox="1"/>
          <p:nvPr/>
        </p:nvSpPr>
        <p:spPr>
          <a:xfrm>
            <a:off x="731520" y="1691640"/>
            <a:ext cx="5669280" cy="4206240"/>
          </a:xfrm>
          <a:prstGeom prst="rect">
            <a:avLst/>
          </a:prstGeom>
          <a:noFill/>
        </p:spPr>
        <p:txBody>
          <a:bodyPr wrap="square" lIns="0" rIns="0" tIns="0" bIns="0">
            <a:spAutoFit/>
          </a:bodyPr>
          <a:lstStyle/>
          <a:p>
            <a:pPr algn="l">
              <a:lnSpc>
                <a:spcPct val="115000"/>
              </a:lnSpc>
              <a:spcAft>
                <a:spcPts val="600"/>
              </a:spcAft>
            </a:pPr>
            <a:r>
              <a:rPr sz="1600" b="0">
                <a:solidFill>
                  <a:srgbClr val="4A3524"/>
                </a:solidFill>
                <a:latin typeface="Verdana"/>
              </a:rPr>
              <a:t>The forest is a set of pure functions of world position - height, moisture, canopy density, trail openness - plus landmarks hashed per 50 m grid cell.</a:t>
            </a:r>
          </a:p>
          <a:p>
            <a:pPr algn="l">
              <a:lnSpc>
                <a:spcPct val="115000"/>
              </a:lnSpc>
              <a:spcAft>
                <a:spcPts val="600"/>
              </a:spcAft>
            </a:pPr>
            <a:r>
              <a:rPr sz="1600" b="0">
                <a:solidFill>
                  <a:srgbClr val="4A3524"/>
                </a:solidFill>
                <a:latin typeface="Verdana"/>
              </a:rPr>
              <a:t/>
            </a:r>
          </a:p>
          <a:p>
            <a:pPr algn="l">
              <a:lnSpc>
                <a:spcPct val="115000"/>
              </a:lnSpc>
              <a:spcAft>
                <a:spcPts val="600"/>
              </a:spcAft>
            </a:pPr>
            <a:r>
              <a:rPr sz="1600" b="0">
                <a:solidFill>
                  <a:srgbClr val="4A3524"/>
                </a:solidFill>
                <a:latin typeface="Verdana"/>
              </a:rPr>
              <a:t>Nothing is stored, so nothing can run out. Chunks are built and discarded around you as you walk, with analytic normals so there is no lighting seam at any chunk border.</a:t>
            </a:r>
          </a:p>
          <a:p>
            <a:pPr algn="l">
              <a:lnSpc>
                <a:spcPct val="115000"/>
              </a:lnSpc>
              <a:spcAft>
                <a:spcPts val="600"/>
              </a:spcAft>
            </a:pPr>
            <a:r>
              <a:rPr sz="1600" b="0">
                <a:solidFill>
                  <a:srgbClr val="4A3524"/>
                </a:solidFill>
                <a:latin typeface="Verdana"/>
              </a:rPr>
              <a:t/>
            </a:r>
          </a:p>
          <a:p>
            <a:pPr algn="l">
              <a:lnSpc>
                <a:spcPct val="115000"/>
              </a:lnSpc>
              <a:spcAft>
                <a:spcPts val="600"/>
              </a:spcAft>
            </a:pPr>
            <a:r>
              <a:rPr sz="1600" b="0">
                <a:solidFill>
                  <a:srgbClr val="4A3524"/>
                </a:solidFill>
                <a:latin typeface="Verdana"/>
              </a:rPr>
              <a:t>Ponds sit in real hollows. Deer trails are the ridge of a noise field, which is a line that never ends - exactly what a path through an endless wood is.</a:t>
            </a:r>
          </a:p>
        </p:txBody>
      </p:sp>
      <p:sp>
        <p:nvSpPr>
          <p:cNvPr id="5" name="Rounded Rectangle 4"/>
          <p:cNvSpPr/>
          <p:nvPr/>
        </p:nvSpPr>
        <p:spPr>
          <a:xfrm>
            <a:off x="731520" y="5760720"/>
            <a:ext cx="5669280" cy="566928"/>
          </a:xfrm>
          <a:prstGeom prst="roundRect">
            <a:avLst/>
          </a:prstGeom>
          <a:solidFill>
            <a:srgbClr val="3E7A4E"/>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4A3524"/>
                </a:solidFill>
                <a:latin typeface="Verdana"/>
              </a:rPr>
              <a:t>walk a kilometre; it is still there</a:t>
            </a:r>
          </a:p>
        </p:txBody>
      </p:sp>
      <p:sp>
        <p:nvSpPr>
          <p:cNvPr id="7" name="Rounded Rectangle 6"/>
          <p:cNvSpPr/>
          <p:nvPr/>
        </p:nvSpPr>
        <p:spPr>
          <a:xfrm>
            <a:off x="6647120" y="1663640"/>
            <a:ext cx="4902320" cy="2782055"/>
          </a:xfrm>
          <a:prstGeom prst="roundRect">
            <a:avLst/>
          </a:prstGeom>
          <a:no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_pond.png"/>
          <p:cNvPicPr>
            <a:picLocks noChangeAspect="1"/>
          </p:cNvPicPr>
          <p:nvPr/>
        </p:nvPicPr>
        <p:blipFill>
          <a:blip r:embed="rId2"/>
          <a:stretch>
            <a:fillRect/>
          </a:stretch>
        </p:blipFill>
        <p:spPr>
          <a:xfrm>
            <a:off x="6675120" y="1691640"/>
            <a:ext cx="4846320" cy="2726055"/>
          </a:xfrm>
          <a:prstGeom prst="rect">
            <a:avLst/>
          </a:prstGeom>
        </p:spPr>
      </p:pic>
      <p:sp>
        <p:nvSpPr>
          <p:cNvPr id="8" name="TextBox 7"/>
          <p:cNvSpPr txBox="1"/>
          <p:nvPr/>
        </p:nvSpPr>
        <p:spPr>
          <a:xfrm>
            <a:off x="10424160" y="6355080"/>
            <a:ext cx="1280160" cy="365760"/>
          </a:xfrm>
          <a:prstGeom prst="rect">
            <a:avLst/>
          </a:prstGeom>
          <a:noFill/>
        </p:spPr>
        <p:txBody>
          <a:bodyPr wrap="square" lIns="0" rIns="0" tIns="0" bIns="0">
            <a:spAutoFit/>
          </a:bodyPr>
          <a:lstStyle/>
          <a:p>
            <a:pPr algn="r">
              <a:lnSpc>
                <a:spcPct val="115000"/>
              </a:lnSpc>
              <a:spcAft>
                <a:spcPts val="600"/>
              </a:spcAft>
            </a:pPr>
            <a:r>
              <a:rPr sz="1100" b="0">
                <a:solidFill>
                  <a:srgbClr val="8A6F52"/>
                </a:solidFill>
                <a:latin typeface="Verdana"/>
              </a:rPr>
              <a:t>Follow  ·  7/10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4937760" cy="868680"/>
          </a:xfrm>
          <a:prstGeom prst="roundRect">
            <a:avLst/>
          </a:prstGeom>
          <a:solidFill>
            <a:srgbClr val="E0603C"/>
          </a:solid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FF6E0"/>
                </a:solidFill>
                <a:latin typeface="Verdana"/>
              </a:rPr>
              <a:t>The field journal</a:t>
            </a:r>
          </a:p>
        </p:txBody>
      </p:sp>
      <p:sp>
        <p:nvSpPr>
          <p:cNvPr id="5" name="Rounded Rectangle 4"/>
          <p:cNvSpPr/>
          <p:nvPr/>
        </p:nvSpPr>
        <p:spPr>
          <a:xfrm>
            <a:off x="703520" y="1663640"/>
            <a:ext cx="7005440" cy="3965060"/>
          </a:xfrm>
          <a:prstGeom prst="roundRect">
            <a:avLst/>
          </a:prstGeom>
          <a:no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nu_album.png"/>
          <p:cNvPicPr>
            <a:picLocks noChangeAspect="1"/>
          </p:cNvPicPr>
          <p:nvPr/>
        </p:nvPicPr>
        <p:blipFill>
          <a:blip r:embed="rId2"/>
          <a:stretch>
            <a:fillRect/>
          </a:stretch>
        </p:blipFill>
        <p:spPr>
          <a:xfrm>
            <a:off x="731520" y="1691640"/>
            <a:ext cx="6949440" cy="3909060"/>
          </a:xfrm>
          <a:prstGeom prst="rect">
            <a:avLst/>
          </a:prstGeom>
        </p:spPr>
      </p:pic>
      <p:sp>
        <p:nvSpPr>
          <p:cNvPr id="6" name="TextBox 5"/>
          <p:cNvSpPr txBox="1"/>
          <p:nvPr/>
        </p:nvSpPr>
        <p:spPr>
          <a:xfrm>
            <a:off x="7955279" y="1691640"/>
            <a:ext cx="3566160" cy="4206240"/>
          </a:xfrm>
          <a:prstGeom prst="rect">
            <a:avLst/>
          </a:prstGeom>
          <a:noFill/>
        </p:spPr>
        <p:txBody>
          <a:bodyPr wrap="square" lIns="0" rIns="0" tIns="0" bIns="0">
            <a:spAutoFit/>
          </a:bodyPr>
          <a:lstStyle/>
          <a:p>
            <a:pPr algn="l">
              <a:lnSpc>
                <a:spcPct val="115000"/>
              </a:lnSpc>
              <a:spcAft>
                <a:spcPts val="600"/>
              </a:spcAft>
            </a:pPr>
            <a:r>
              <a:rPr sz="1600" b="0">
                <a:solidFill>
                  <a:srgbClr val="4A3524"/>
                </a:solidFill>
                <a:latin typeface="Verdana"/>
              </a:rPr>
              <a:t>Twelve species of Nagaland and the Eastern Himalaya - mithun, barking deer, dhole, emerald dove, blue vanda, rhododendron.</a:t>
            </a:r>
          </a:p>
          <a:p>
            <a:pPr algn="l">
              <a:lnSpc>
                <a:spcPct val="115000"/>
              </a:lnSpc>
              <a:spcAft>
                <a:spcPts val="600"/>
              </a:spcAft>
            </a:pPr>
            <a:r>
              <a:rPr sz="1600" b="0">
                <a:solidFill>
                  <a:srgbClr val="4A3524"/>
                </a:solidFill>
                <a:latin typeface="Verdana"/>
              </a:rPr>
              <a:t/>
            </a:r>
          </a:p>
          <a:p>
            <a:pPr algn="l">
              <a:lnSpc>
                <a:spcPct val="115000"/>
              </a:lnSpc>
              <a:spcAft>
                <a:spcPts val="600"/>
              </a:spcAft>
            </a:pPr>
            <a:r>
              <a:rPr sz="1600" b="0">
                <a:solidFill>
                  <a:srgbClr val="4A3524"/>
                </a:solidFill>
                <a:latin typeface="Verdana"/>
              </a:rPr>
              <a:t>Every entry carries habitat, diet and a field note. The page fills in properly once you have photographed it, and your own shot goes at the top with the day you took it.</a:t>
            </a:r>
          </a:p>
          <a:p>
            <a:pPr algn="l">
              <a:lnSpc>
                <a:spcPct val="115000"/>
              </a:lnSpc>
              <a:spcAft>
                <a:spcPts val="600"/>
              </a:spcAft>
            </a:pPr>
            <a:r>
              <a:rPr sz="1600" b="0">
                <a:solidFill>
                  <a:srgbClr val="4A3524"/>
                </a:solidFill>
                <a:latin typeface="Verdana"/>
              </a:rPr>
              <a:t/>
            </a:r>
          </a:p>
          <a:p>
            <a:pPr algn="l">
              <a:lnSpc>
                <a:spcPct val="115000"/>
              </a:lnSpc>
              <a:spcAft>
                <a:spcPts val="600"/>
              </a:spcAft>
            </a:pPr>
            <a:r>
              <a:rPr sz="1600" b="0">
                <a:solidFill>
                  <a:srgbClr val="4A3524"/>
                </a:solidFill>
                <a:latin typeface="Verdana"/>
              </a:rPr>
              <a:t>A guide you have not finished is the whole point.</a:t>
            </a:r>
          </a:p>
        </p:txBody>
      </p:sp>
      <p:sp>
        <p:nvSpPr>
          <p:cNvPr id="7" name="TextBox 6"/>
          <p:cNvSpPr txBox="1"/>
          <p:nvPr/>
        </p:nvSpPr>
        <p:spPr>
          <a:xfrm>
            <a:off x="10424160" y="6355080"/>
            <a:ext cx="1280160" cy="365760"/>
          </a:xfrm>
          <a:prstGeom prst="rect">
            <a:avLst/>
          </a:prstGeom>
          <a:noFill/>
        </p:spPr>
        <p:txBody>
          <a:bodyPr wrap="square" lIns="0" rIns="0" tIns="0" bIns="0">
            <a:spAutoFit/>
          </a:bodyPr>
          <a:lstStyle/>
          <a:p>
            <a:pPr algn="r">
              <a:lnSpc>
                <a:spcPct val="115000"/>
              </a:lnSpc>
              <a:spcAft>
                <a:spcPts val="600"/>
              </a:spcAft>
            </a:pPr>
            <a:r>
              <a:rPr sz="1100" b="0">
                <a:solidFill>
                  <a:srgbClr val="8A6F52"/>
                </a:solidFill>
                <a:latin typeface="Verdana"/>
              </a:rPr>
              <a:t>Follow  ·  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4023360" cy="868680"/>
          </a:xfrm>
          <a:prstGeom prst="roundRect">
            <a:avLst/>
          </a:prstGeom>
          <a:solidFill>
            <a:srgbClr val="E0603C"/>
          </a:solid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FF6E0"/>
                </a:solidFill>
                <a:latin typeface="Verdana"/>
              </a:rPr>
              <a:t>Built with</a:t>
            </a:r>
          </a:p>
        </p:txBody>
      </p:sp>
      <p:sp>
        <p:nvSpPr>
          <p:cNvPr id="4" name="Rounded Rectangle 3"/>
          <p:cNvSpPr/>
          <p:nvPr/>
        </p:nvSpPr>
        <p:spPr>
          <a:xfrm>
            <a:off x="731520" y="1691640"/>
            <a:ext cx="3566160" cy="548640"/>
          </a:xfrm>
          <a:prstGeom prst="roundRect">
            <a:avLst/>
          </a:prstGeom>
          <a:solidFill>
            <a:srgbClr val="FFE9BC"/>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4A3524"/>
                </a:solidFill>
                <a:latin typeface="Verdana"/>
              </a:rPr>
              <a:t>Unity 6.3 · URP</a:t>
            </a:r>
          </a:p>
        </p:txBody>
      </p:sp>
      <p:sp>
        <p:nvSpPr>
          <p:cNvPr id="5" name="TextBox 4"/>
          <p:cNvSpPr txBox="1"/>
          <p:nvPr/>
        </p:nvSpPr>
        <p:spPr>
          <a:xfrm>
            <a:off x="4480560" y="1746504"/>
            <a:ext cx="6949440" cy="822960"/>
          </a:xfrm>
          <a:prstGeom prst="rect">
            <a:avLst/>
          </a:prstGeom>
          <a:noFill/>
        </p:spPr>
        <p:txBody>
          <a:bodyPr wrap="square" lIns="0" rIns="0" tIns="0" bIns="0">
            <a:spAutoFit/>
          </a:bodyPr>
          <a:lstStyle/>
          <a:p>
            <a:pPr algn="l">
              <a:lnSpc>
                <a:spcPct val="115000"/>
              </a:lnSpc>
              <a:spcAft>
                <a:spcPts val="600"/>
              </a:spcAft>
            </a:pPr>
            <a:r>
              <a:rPr sz="1400" b="0">
                <a:solidFill>
                  <a:srgbClr val="4A3524"/>
                </a:solidFill>
                <a:latin typeface="Verdana"/>
              </a:rPr>
              <a:t>17,500 lines of C# across 81 files</a:t>
            </a:r>
          </a:p>
        </p:txBody>
      </p:sp>
      <p:sp>
        <p:nvSpPr>
          <p:cNvPr id="6" name="Rounded Rectangle 5"/>
          <p:cNvSpPr/>
          <p:nvPr/>
        </p:nvSpPr>
        <p:spPr>
          <a:xfrm>
            <a:off x="731520" y="2606040"/>
            <a:ext cx="3566160" cy="548640"/>
          </a:xfrm>
          <a:prstGeom prst="roundRect">
            <a:avLst/>
          </a:prstGeom>
          <a:solidFill>
            <a:srgbClr val="FFE9BC"/>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4A3524"/>
                </a:solidFill>
                <a:latin typeface="Verdana"/>
              </a:rPr>
              <a:t>Everything is a command</a:t>
            </a:r>
          </a:p>
        </p:txBody>
      </p:sp>
      <p:sp>
        <p:nvSpPr>
          <p:cNvPr id="7" name="TextBox 6"/>
          <p:cNvSpPr txBox="1"/>
          <p:nvPr/>
        </p:nvSpPr>
        <p:spPr>
          <a:xfrm>
            <a:off x="4480560" y="2660904"/>
            <a:ext cx="6949440" cy="822960"/>
          </a:xfrm>
          <a:prstGeom prst="rect">
            <a:avLst/>
          </a:prstGeom>
          <a:noFill/>
        </p:spPr>
        <p:txBody>
          <a:bodyPr wrap="square" lIns="0" rIns="0" tIns="0" bIns="0">
            <a:spAutoFit/>
          </a:bodyPr>
          <a:lstStyle/>
          <a:p>
            <a:pPr algn="l">
              <a:lnSpc>
                <a:spcPct val="115000"/>
              </a:lnSpc>
              <a:spcAft>
                <a:spcPts val="600"/>
              </a:spcAft>
            </a:pPr>
            <a:r>
              <a:rPr sz="1400" b="0">
                <a:solidFill>
                  <a:srgbClr val="4A3524"/>
                </a:solidFill>
                <a:latin typeface="Verdana"/>
              </a:rPr>
              <a:t>Scenes are baked by editor menu items, not hand-wired</a:t>
            </a:r>
          </a:p>
        </p:txBody>
      </p:sp>
      <p:sp>
        <p:nvSpPr>
          <p:cNvPr id="8" name="Rounded Rectangle 7"/>
          <p:cNvSpPr/>
          <p:nvPr/>
        </p:nvSpPr>
        <p:spPr>
          <a:xfrm>
            <a:off x="731520" y="3520440"/>
            <a:ext cx="3566160" cy="548640"/>
          </a:xfrm>
          <a:prstGeom prst="roundRect">
            <a:avLst/>
          </a:prstGeom>
          <a:solidFill>
            <a:srgbClr val="FFE9BC"/>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4A3524"/>
                </a:solidFill>
                <a:latin typeface="Verdana"/>
              </a:rPr>
              <a:t>Audio is synthesised</a:t>
            </a:r>
          </a:p>
        </p:txBody>
      </p:sp>
      <p:sp>
        <p:nvSpPr>
          <p:cNvPr id="9" name="TextBox 8"/>
          <p:cNvSpPr txBox="1"/>
          <p:nvPr/>
        </p:nvSpPr>
        <p:spPr>
          <a:xfrm>
            <a:off x="4480560" y="3575304"/>
            <a:ext cx="6949440" cy="822960"/>
          </a:xfrm>
          <a:prstGeom prst="rect">
            <a:avLst/>
          </a:prstGeom>
          <a:noFill/>
        </p:spPr>
        <p:txBody>
          <a:bodyPr wrap="square" lIns="0" rIns="0" tIns="0" bIns="0">
            <a:spAutoFit/>
          </a:bodyPr>
          <a:lstStyle/>
          <a:p>
            <a:pPr algn="l">
              <a:lnSpc>
                <a:spcPct val="115000"/>
              </a:lnSpc>
              <a:spcAft>
                <a:spcPts val="600"/>
              </a:spcAft>
            </a:pPr>
            <a:r>
              <a:rPr sz="1400" b="0">
                <a:solidFill>
                  <a:srgbClr val="4A3524"/>
                </a:solidFill>
                <a:latin typeface="Verdana"/>
              </a:rPr>
              <a:t>Wind, birds, crickets, music box, the whistle and the bark are generated into AudioClips at load</a:t>
            </a:r>
          </a:p>
        </p:txBody>
      </p:sp>
      <p:sp>
        <p:nvSpPr>
          <p:cNvPr id="10" name="Rounded Rectangle 9"/>
          <p:cNvSpPr/>
          <p:nvPr/>
        </p:nvSpPr>
        <p:spPr>
          <a:xfrm>
            <a:off x="731520" y="4434840"/>
            <a:ext cx="3566160" cy="548640"/>
          </a:xfrm>
          <a:prstGeom prst="roundRect">
            <a:avLst/>
          </a:prstGeom>
          <a:solidFill>
            <a:srgbClr val="FFE9BC"/>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4A3524"/>
                </a:solidFill>
                <a:latin typeface="Verdana"/>
              </a:rPr>
              <a:t>Custom shaders</a:t>
            </a:r>
          </a:p>
        </p:txBody>
      </p:sp>
      <p:sp>
        <p:nvSpPr>
          <p:cNvPr id="11" name="TextBox 10"/>
          <p:cNvSpPr txBox="1"/>
          <p:nvPr/>
        </p:nvSpPr>
        <p:spPr>
          <a:xfrm>
            <a:off x="4480560" y="4489704"/>
            <a:ext cx="6949440" cy="822960"/>
          </a:xfrm>
          <a:prstGeom prst="rect">
            <a:avLst/>
          </a:prstGeom>
          <a:noFill/>
        </p:spPr>
        <p:txBody>
          <a:bodyPr wrap="square" lIns="0" rIns="0" tIns="0" bIns="0">
            <a:spAutoFit/>
          </a:bodyPr>
          <a:lstStyle/>
          <a:p>
            <a:pPr algn="l">
              <a:lnSpc>
                <a:spcPct val="115000"/>
              </a:lnSpc>
              <a:spcAft>
                <a:spcPts val="600"/>
              </a:spcAft>
            </a:pPr>
            <a:r>
              <a:rPr sz="1400" b="0">
                <a:solidFill>
                  <a:srgbClr val="4A3524"/>
                </a:solidFill>
                <a:latin typeface="Verdana"/>
              </a:rPr>
              <a:t>Foliage wind with dither fade, stylised ground and water, soft particles</a:t>
            </a:r>
          </a:p>
        </p:txBody>
      </p:sp>
      <p:sp>
        <p:nvSpPr>
          <p:cNvPr id="12" name="Rounded Rectangle 11"/>
          <p:cNvSpPr/>
          <p:nvPr/>
        </p:nvSpPr>
        <p:spPr>
          <a:xfrm>
            <a:off x="731520" y="5349240"/>
            <a:ext cx="3566160" cy="548640"/>
          </a:xfrm>
          <a:prstGeom prst="roundRect">
            <a:avLst/>
          </a:prstGeom>
          <a:solidFill>
            <a:srgbClr val="FFE9BC"/>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4A3524"/>
                </a:solidFill>
                <a:latin typeface="Verdana"/>
              </a:rPr>
              <a:t>It cannot wedge</a:t>
            </a:r>
          </a:p>
        </p:txBody>
      </p:sp>
      <p:sp>
        <p:nvSpPr>
          <p:cNvPr id="13" name="TextBox 12"/>
          <p:cNvSpPr txBox="1"/>
          <p:nvPr/>
        </p:nvSpPr>
        <p:spPr>
          <a:xfrm>
            <a:off x="4480560" y="5404104"/>
            <a:ext cx="6949440" cy="822960"/>
          </a:xfrm>
          <a:prstGeom prst="rect">
            <a:avLst/>
          </a:prstGeom>
          <a:noFill/>
        </p:spPr>
        <p:txBody>
          <a:bodyPr wrap="square" lIns="0" rIns="0" tIns="0" bIns="0">
            <a:spAutoFit/>
          </a:bodyPr>
          <a:lstStyle/>
          <a:p>
            <a:pPr algn="l">
              <a:lnSpc>
                <a:spcPct val="115000"/>
              </a:lnSpc>
              <a:spcAft>
                <a:spcPts val="600"/>
              </a:spcAft>
            </a:pPr>
            <a:r>
              <a:rPr sz="1400" b="0">
                <a:solidFill>
                  <a:srgbClr val="4A3524"/>
                </a:solidFill>
                <a:latin typeface="Verdana"/>
              </a:rPr>
              <a:t>Movement holds, the modal counter and the clock all have watchdogs that hand control back</a:t>
            </a:r>
          </a:p>
        </p:txBody>
      </p:sp>
      <p:sp>
        <p:nvSpPr>
          <p:cNvPr id="14" name="TextBox 13"/>
          <p:cNvSpPr txBox="1"/>
          <p:nvPr/>
        </p:nvSpPr>
        <p:spPr>
          <a:xfrm>
            <a:off x="731520" y="6355080"/>
            <a:ext cx="10515600" cy="365760"/>
          </a:xfrm>
          <a:prstGeom prst="rect">
            <a:avLst/>
          </a:prstGeom>
          <a:noFill/>
        </p:spPr>
        <p:txBody>
          <a:bodyPr wrap="square" lIns="0" rIns="0" tIns="0" bIns="0">
            <a:spAutoFit/>
          </a:bodyPr>
          <a:lstStyle/>
          <a:p>
            <a:pPr algn="l">
              <a:lnSpc>
                <a:spcPct val="115000"/>
              </a:lnSpc>
              <a:spcAft>
                <a:spcPts val="600"/>
              </a:spcAft>
            </a:pPr>
            <a:r>
              <a:rPr sz="1300" b="0">
                <a:solidFill>
                  <a:srgbClr val="8A6F52"/>
                </a:solidFill>
                <a:latin typeface="Verdana"/>
              </a:rPr>
              <a:t>Windows and WebGL builds. No baked lighting, no large textures, well under the 250 MB cap.</a:t>
            </a:r>
          </a:p>
        </p:txBody>
      </p:sp>
      <p:sp>
        <p:nvSpPr>
          <p:cNvPr id="15" name="TextBox 14"/>
          <p:cNvSpPr txBox="1"/>
          <p:nvPr/>
        </p:nvSpPr>
        <p:spPr>
          <a:xfrm>
            <a:off x="10424160" y="6355080"/>
            <a:ext cx="1280160" cy="365760"/>
          </a:xfrm>
          <a:prstGeom prst="rect">
            <a:avLst/>
          </a:prstGeom>
          <a:noFill/>
        </p:spPr>
        <p:txBody>
          <a:bodyPr wrap="square" lIns="0" rIns="0" tIns="0" bIns="0">
            <a:spAutoFit/>
          </a:bodyPr>
          <a:lstStyle/>
          <a:p>
            <a:pPr algn="r">
              <a:lnSpc>
                <a:spcPct val="115000"/>
              </a:lnSpc>
              <a:spcAft>
                <a:spcPts val="600"/>
              </a:spcAft>
            </a:pPr>
            <a:r>
              <a:rPr sz="1100" b="0">
                <a:solidFill>
                  <a:srgbClr val="8A6F52"/>
                </a:solidFill>
                <a:latin typeface="Verdana"/>
              </a:rPr>
              <a:t>Follow  ·  9/10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4206240" cy="868680"/>
          </a:xfrm>
          <a:prstGeom prst="roundRect">
            <a:avLst/>
          </a:prstGeom>
          <a:solidFill>
            <a:srgbClr val="E0603C"/>
          </a:solid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FF6E0"/>
                </a:solidFill>
                <a:latin typeface="Verdana"/>
              </a:rPr>
              <a:t>Thank you</a:t>
            </a:r>
          </a:p>
        </p:txBody>
      </p:sp>
      <p:sp>
        <p:nvSpPr>
          <p:cNvPr id="4" name="TextBox 3"/>
          <p:cNvSpPr txBox="1"/>
          <p:nvPr/>
        </p:nvSpPr>
        <p:spPr>
          <a:xfrm>
            <a:off x="731520" y="1737360"/>
            <a:ext cx="5852160" cy="3108960"/>
          </a:xfrm>
          <a:prstGeom prst="rect">
            <a:avLst/>
          </a:prstGeom>
          <a:noFill/>
        </p:spPr>
        <p:txBody>
          <a:bodyPr wrap="square" lIns="0" rIns="0" tIns="0" bIns="0">
            <a:spAutoFit/>
          </a:bodyPr>
          <a:lstStyle/>
          <a:p>
            <a:pPr algn="l">
              <a:lnSpc>
                <a:spcPct val="115000"/>
              </a:lnSpc>
              <a:spcAft>
                <a:spcPts val="600"/>
              </a:spcAft>
            </a:pPr>
            <a:r>
              <a:rPr sz="1800" b="0">
                <a:solidFill>
                  <a:srgbClr val="4A3524"/>
                </a:solidFill>
                <a:latin typeface="Verdana"/>
              </a:rPr>
              <a:t>Follow</a:t>
            </a:r>
          </a:p>
          <a:p>
            <a:pPr algn="l">
              <a:lnSpc>
                <a:spcPct val="115000"/>
              </a:lnSpc>
              <a:spcAft>
                <a:spcPts val="600"/>
              </a:spcAft>
            </a:pPr>
            <a:r>
              <a:rPr sz="1800" b="0">
                <a:solidFill>
                  <a:srgbClr val="4A3524"/>
                </a:solidFill>
                <a:latin typeface="Verdana"/>
              </a:rPr>
              <a:t/>
            </a:r>
          </a:p>
          <a:p>
            <a:pPr algn="l">
              <a:lnSpc>
                <a:spcPct val="115000"/>
              </a:lnSpc>
              <a:spcAft>
                <a:spcPts val="600"/>
              </a:spcAft>
            </a:pPr>
            <a:r>
              <a:rPr sz="1800" b="0">
                <a:solidFill>
                  <a:srgbClr val="4A3524"/>
                </a:solidFill>
                <a:latin typeface="Verdana"/>
              </a:rPr>
              <a:t>TXG Nagaland Game Jam 2026</a:t>
            </a:r>
          </a:p>
          <a:p>
            <a:pPr algn="l">
              <a:lnSpc>
                <a:spcPct val="115000"/>
              </a:lnSpc>
              <a:spcAft>
                <a:spcPts val="600"/>
              </a:spcAft>
            </a:pPr>
            <a:r>
              <a:rPr sz="1800" b="0">
                <a:solidFill>
                  <a:srgbClr val="4A3524"/>
                </a:solidFill>
                <a:latin typeface="Verdana"/>
              </a:rPr>
              <a:t>Where Nature Leads</a:t>
            </a:r>
          </a:p>
          <a:p>
            <a:pPr algn="l">
              <a:lnSpc>
                <a:spcPct val="115000"/>
              </a:lnSpc>
              <a:spcAft>
                <a:spcPts val="600"/>
              </a:spcAft>
            </a:pPr>
            <a:r>
              <a:rPr sz="1800" b="0">
                <a:solidFill>
                  <a:srgbClr val="4A3524"/>
                </a:solidFill>
                <a:latin typeface="Verdana"/>
              </a:rPr>
              <a:t/>
            </a:r>
          </a:p>
          <a:p>
            <a:pPr algn="l">
              <a:lnSpc>
                <a:spcPct val="115000"/>
              </a:lnSpc>
              <a:spcAft>
                <a:spcPts val="600"/>
              </a:spcAft>
            </a:pPr>
            <a:r>
              <a:rPr sz="1800" b="0">
                <a:solidFill>
                  <a:srgbClr val="4A3524"/>
                </a:solidFill>
                <a:latin typeface="Verdana"/>
              </a:rPr>
              <a:t>Art from Quaternius, Kenney and Kay Lousberg, all CC0.</a:t>
            </a:r>
          </a:p>
          <a:p>
            <a:pPr algn="l">
              <a:lnSpc>
                <a:spcPct val="115000"/>
              </a:lnSpc>
              <a:spcAft>
                <a:spcPts val="600"/>
              </a:spcAft>
            </a:pPr>
            <a:r>
              <a:rPr sz="1800" b="0">
                <a:solidFill>
                  <a:srgbClr val="4A3524"/>
                </a:solidFill>
                <a:latin typeface="Verdana"/>
              </a:rPr>
              <a:t>The studio logo and the story panels are AI generated;</a:t>
            </a:r>
          </a:p>
          <a:p>
            <a:pPr algn="l">
              <a:lnSpc>
                <a:spcPct val="115000"/>
              </a:lnSpc>
              <a:spcAft>
                <a:spcPts val="600"/>
              </a:spcAft>
            </a:pPr>
            <a:r>
              <a:rPr sz="1800" b="0">
                <a:solidFill>
                  <a:srgbClr val="4A3524"/>
                </a:solidFill>
                <a:latin typeface="Verdana"/>
              </a:rPr>
              <a:t>full disclosure is in the game's Credits card.</a:t>
            </a:r>
          </a:p>
        </p:txBody>
      </p:sp>
      <p:sp>
        <p:nvSpPr>
          <p:cNvPr id="5" name="Rounded Rectangle 4"/>
          <p:cNvSpPr/>
          <p:nvPr/>
        </p:nvSpPr>
        <p:spPr>
          <a:xfrm>
            <a:off x="731520" y="5120640"/>
            <a:ext cx="5852160" cy="685800"/>
          </a:xfrm>
          <a:prstGeom prst="roundRect">
            <a:avLst/>
          </a:prstGeom>
          <a:solidFill>
            <a:srgbClr val="FFBB3D"/>
          </a:solidFill>
          <a:ln w="28575">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4A3524"/>
                </a:solidFill>
                <a:latin typeface="Verdana"/>
              </a:rPr>
              <a:t>To everyone who has ever been led somewhere by a dog.</a:t>
            </a:r>
          </a:p>
        </p:txBody>
      </p:sp>
      <p:sp>
        <p:nvSpPr>
          <p:cNvPr id="7" name="Rounded Rectangle 6"/>
          <p:cNvSpPr/>
          <p:nvPr/>
        </p:nvSpPr>
        <p:spPr>
          <a:xfrm>
            <a:off x="6830000" y="1709360"/>
            <a:ext cx="4719440" cy="2679185"/>
          </a:xfrm>
          <a:prstGeom prst="roundRect">
            <a:avLst/>
          </a:prstGeom>
          <a:noFill/>
          <a:ln w="38100">
            <a:solidFill>
              <a:srgbClr val="3A2A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edits2.png"/>
          <p:cNvPicPr>
            <a:picLocks noChangeAspect="1"/>
          </p:cNvPicPr>
          <p:nvPr/>
        </p:nvPicPr>
        <p:blipFill>
          <a:blip r:embed="rId2"/>
          <a:stretch>
            <a:fillRect/>
          </a:stretch>
        </p:blipFill>
        <p:spPr>
          <a:xfrm>
            <a:off x="6858000" y="1737360"/>
            <a:ext cx="4663440" cy="2623185"/>
          </a:xfrm>
          <a:prstGeom prst="rect">
            <a:avLst/>
          </a:prstGeom>
        </p:spPr>
      </p:pic>
      <p:sp>
        <p:nvSpPr>
          <p:cNvPr id="8" name="TextBox 7"/>
          <p:cNvSpPr txBox="1"/>
          <p:nvPr/>
        </p:nvSpPr>
        <p:spPr>
          <a:xfrm>
            <a:off x="10424160" y="6355080"/>
            <a:ext cx="1280160" cy="365760"/>
          </a:xfrm>
          <a:prstGeom prst="rect">
            <a:avLst/>
          </a:prstGeom>
          <a:noFill/>
        </p:spPr>
        <p:txBody>
          <a:bodyPr wrap="square" lIns="0" rIns="0" tIns="0" bIns="0">
            <a:spAutoFit/>
          </a:bodyPr>
          <a:lstStyle/>
          <a:p>
            <a:pPr algn="r">
              <a:lnSpc>
                <a:spcPct val="115000"/>
              </a:lnSpc>
              <a:spcAft>
                <a:spcPts val="600"/>
              </a:spcAft>
            </a:pPr>
            <a:r>
              <a:rPr sz="1100" b="0">
                <a:solidFill>
                  <a:srgbClr val="8A6F52"/>
                </a:solidFill>
                <a:latin typeface="Verdana"/>
              </a:rPr>
              <a:t>Follow  ·  10/10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